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1.wmf" ContentType="image/x-wmf"/>
  <Override PartName="/ppt/media/image2.wmf" ContentType="image/x-wmf"/>
  <Override PartName="/ppt/media/image3.wmf" ContentType="image/x-wmf"/>
  <Override PartName="/ppt/media/image4.png" ContentType="image/png"/>
  <Override PartName="/ppt/media/image5.png" ContentType="image/png"/>
  <Override PartName="/ppt/media/image8.jpeg" ContentType="image/jpeg"/>
  <Override PartName="/ppt/media/image6.png" ContentType="image/png"/>
  <Override PartName="/ppt/media/image7.jpeg" ContentType="image/jpe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wmf"/><Relationship Id="rId3" Type="http://schemas.openxmlformats.org/officeDocument/2006/relationships/hyperlink" Target="http://creativecommons.org/licenses/by/4.0/" TargetMode="External"/><Relationship Id="rId4" Type="http://schemas.openxmlformats.org/officeDocument/2006/relationships/image" Target="../media/image2.wmf"/><Relationship Id="rId5" Type="http://schemas.openxmlformats.org/officeDocument/2006/relationships/image" Target="../media/image3.wmf"/><Relationship Id="rId6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wmf"/><Relationship Id="rId3" Type="http://schemas.openxmlformats.org/officeDocument/2006/relationships/hyperlink" Target="https://creativecommons.org/publicdomain/zero/1.0/deed.de" TargetMode="External"/><Relationship Id="rId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6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dt" idx="1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1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16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2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5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30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3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43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48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dt" idx="4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58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63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dt" idx="5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69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74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6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81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86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7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95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100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dt" idx="8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05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110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dt" idx="9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6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13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118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dt" idx="10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29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134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dt" idx="11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6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45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BY 4.0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Grafik 7" descr=""/>
          <p:cNvPicPr/>
          <p:nvPr/>
        </p:nvPicPr>
        <p:blipFill>
          <a:blip r:embed="rId4"/>
          <a:stretch/>
        </p:blipFill>
        <p:spPr>
          <a:xfrm>
            <a:off x="0" y="2750400"/>
            <a:ext cx="12190680" cy="4106160"/>
          </a:xfrm>
          <a:prstGeom prst="rect">
            <a:avLst/>
          </a:prstGeom>
          <a:ln w="0">
            <a:noFill/>
          </a:ln>
        </p:spPr>
      </p:pic>
      <p:pic>
        <p:nvPicPr>
          <p:cNvPr id="150" name="Grafik 3" descr=""/>
          <p:cNvPicPr/>
          <p:nvPr/>
        </p:nvPicPr>
        <p:blipFill>
          <a:blip r:embed="rId5"/>
          <a:stretch/>
        </p:blipFill>
        <p:spPr>
          <a:xfrm>
            <a:off x="360000" y="360000"/>
            <a:ext cx="2726640" cy="776160"/>
          </a:xfrm>
          <a:prstGeom prst="rect">
            <a:avLst/>
          </a:prstGeom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dt" idx="12"/>
          </p:nvPr>
        </p:nvSpPr>
        <p:spPr>
          <a:xfrm>
            <a:off x="1104120" y="6192000"/>
            <a:ext cx="2590560" cy="17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6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61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ftr" idx="13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dt" idx="14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70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15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dt" idx="16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183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2" name="PlaceHolder 6"/>
          <p:cNvSpPr>
            <a:spLocks noGrp="1"/>
          </p:cNvSpPr>
          <p:nvPr>
            <p:ph type="ftr" idx="17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7"/>
          <p:cNvSpPr>
            <a:spLocks noGrp="1"/>
          </p:cNvSpPr>
          <p:nvPr>
            <p:ph type="dt" idx="18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00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1" name="PlaceHolder 8"/>
          <p:cNvSpPr>
            <a:spLocks noGrp="1"/>
          </p:cNvSpPr>
          <p:nvPr>
            <p:ph type="ftr" idx="19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9"/>
          <p:cNvSpPr>
            <a:spLocks noGrp="1"/>
          </p:cNvSpPr>
          <p:nvPr>
            <p:ph type="dt" idx="20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14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ftr" idx="21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dt" idx="22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24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ftr" idx="23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dt" idx="24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35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ftr" idx="25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dt" idx="26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48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ftr" idx="27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dt" idx="28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57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ftr" idx="29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dt" idx="30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64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ftr" idx="31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dt" idx="32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79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ftr" idx="33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6"/>
          <p:cNvSpPr>
            <a:spLocks noGrp="1"/>
          </p:cNvSpPr>
          <p:nvPr>
            <p:ph type="dt" idx="34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rafik 6" descr=""/>
          <p:cNvPicPr/>
          <p:nvPr/>
        </p:nvPicPr>
        <p:blipFill>
          <a:blip r:embed="rId2"/>
          <a:stretch/>
        </p:blipFill>
        <p:spPr>
          <a:xfrm>
            <a:off x="478440" y="6390000"/>
            <a:ext cx="1008720" cy="277920"/>
          </a:xfrm>
          <a:prstGeom prst="rect">
            <a:avLst/>
          </a:prstGeom>
          <a:ln w="0">
            <a:noFill/>
          </a:ln>
        </p:spPr>
      </p:pic>
      <p:sp>
        <p:nvSpPr>
          <p:cNvPr id="294" name="Rechteck 7"/>
          <p:cNvSpPr/>
          <p:nvPr/>
        </p:nvSpPr>
        <p:spPr>
          <a:xfrm>
            <a:off x="1747080" y="6390000"/>
            <a:ext cx="5201640" cy="10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>
                <a:solidFill>
                  <a:srgbClr val="000000"/>
                </a:solidFill>
                <a:latin typeface="VistaSansBold"/>
                <a:ea typeface="DejaVu Sans"/>
              </a:rPr>
              <a:t>Sächsische Landesbibliothek – Staats- und Universitätsbibliothek Dresden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hteck 8"/>
          <p:cNvSpPr/>
          <p:nvPr/>
        </p:nvSpPr>
        <p:spPr>
          <a:xfrm>
            <a:off x="10271880" y="6390000"/>
            <a:ext cx="1438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1" lang="de-DE" sz="900" spc="-1" strike="noStrike">
                <a:solidFill>
                  <a:srgbClr val="e10019"/>
                </a:solidFill>
                <a:latin typeface="VistaSansBold"/>
                <a:ea typeface="DejaVu Sans"/>
              </a:rPr>
              <a:t>slub-dresden.de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hteck 9"/>
          <p:cNvSpPr/>
          <p:nvPr/>
        </p:nvSpPr>
        <p:spPr>
          <a:xfrm>
            <a:off x="7363080" y="6525360"/>
            <a:ext cx="25905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de-DE" sz="9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3"/>
              </a:rPr>
              <a:t>CC 0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erade Verbindung 11"/>
          <p:cNvSpPr/>
          <p:nvPr/>
        </p:nvSpPr>
        <p:spPr>
          <a:xfrm>
            <a:off x="479880" y="6274800"/>
            <a:ext cx="11232000" cy="360"/>
          </a:xfrm>
          <a:prstGeom prst="line">
            <a:avLst/>
          </a:prstGeom>
          <a:ln w="6350">
            <a:solidFill>
              <a:srgbClr val="0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 type="ftr" idx="35"/>
          </p:nvPr>
        </p:nvSpPr>
        <p:spPr>
          <a:xfrm>
            <a:off x="1747080" y="6525360"/>
            <a:ext cx="5201640" cy="14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PlaceHolder 6"/>
          <p:cNvSpPr>
            <a:spLocks noGrp="1"/>
          </p:cNvSpPr>
          <p:nvPr>
            <p:ph type="dt" idx="36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hyperlink" Target="https://en.wikipedia.org/wiki/1854_Broad_Street_cholera_outbreak" TargetMode="External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ubTitle"/>
          </p:nvPr>
        </p:nvSpPr>
        <p:spPr>
          <a:xfrm>
            <a:off x="1103400" y="2988000"/>
            <a:ext cx="9982440" cy="93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de-DE" sz="1800" spc="-1" strike="noStrike">
                <a:solidFill>
                  <a:srgbClr val="ffffff"/>
                </a:solidFill>
                <a:latin typeface="VistaSansBold"/>
                <a:ea typeface="DejaVu Sans"/>
              </a:rPr>
              <a:t>Arne Rümmler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de-DE" sz="1200" spc="-1" strike="noStrike">
                <a:solidFill>
                  <a:srgbClr val="ffffff"/>
                </a:solidFill>
                <a:latin typeface="VistaSansBook"/>
                <a:ea typeface="DejaVu Sans"/>
              </a:rPr>
              <a:t>Referat 4.3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de-DE" sz="1200" spc="-1" strike="noStrike">
                <a:solidFill>
                  <a:srgbClr val="ffffff"/>
                </a:solidFill>
                <a:latin typeface="VistaSansBook"/>
                <a:ea typeface="DejaVu Sans"/>
              </a:rPr>
              <a:t>07. Juni 2024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de-DE" sz="1400" spc="-1" strike="noStrike">
                <a:solidFill>
                  <a:srgbClr val="ffffff"/>
                </a:solidFill>
                <a:latin typeface="VistaSansBook"/>
                <a:ea typeface="DejaVu Sans"/>
              </a:rPr>
              <a:t>Seminar </a:t>
            </a:r>
            <a:r>
              <a:rPr b="0" i="1" lang="de-DE" sz="1400" spc="-1" strike="noStrike">
                <a:solidFill>
                  <a:srgbClr val="ffffff"/>
                </a:solidFill>
                <a:latin typeface="VistaSansBook"/>
                <a:ea typeface="DejaVu Sans"/>
              </a:rPr>
              <a:t>Datenkompetenz für Digital Humanities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1055520" y="1296000"/>
            <a:ext cx="9982440" cy="122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rgbClr val="000000"/>
                </a:solidFill>
                <a:latin typeface="VistaSansBold"/>
                <a:ea typeface="DejaVu Sans"/>
              </a:rPr>
              <a:t>Geodaten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478440" y="289080"/>
            <a:ext cx="1122840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rgbClr val="000000"/>
                </a:solidFill>
                <a:latin typeface="VistaSansBold"/>
                <a:ea typeface="DejaVu Sans"/>
              </a:rPr>
              <a:t>Was sind Geodaten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dt" idx="37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49991791-F964-4DAC-95EA-8610A054F45A}" type="datetime3"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19. Juni 2026</a:t>
            </a:fld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 | Seite </a:t>
            </a:r>
            <a:fld id="{9A1114ED-DB3C-411F-B482-339FEE12FBDD}" type="slidenum"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&lt;number&gt;</a:t>
            </a:fld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/>
          </p:nvPr>
        </p:nvSpPr>
        <p:spPr>
          <a:xfrm>
            <a:off x="478440" y="677520"/>
            <a:ext cx="1123056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  <a:ea typeface="DejaVu Sans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/>
          </p:nvPr>
        </p:nvSpPr>
        <p:spPr>
          <a:xfrm>
            <a:off x="478440" y="1386000"/>
            <a:ext cx="6192360" cy="446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  <a:tabLst>
                <a:tab algn="l" pos="0"/>
              </a:tabLst>
            </a:pPr>
            <a:r>
              <a:rPr b="1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Alle Daten die Information zu ihrer Position auf(/in) der Erde beinhalten.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Foto mit Ihrem Handy → Koordinaten in Metadaten gespeichert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Regenradar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Paketzustellung (geschätzte Ankunftszeit, Karte)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Evakuierung bei Bombenfund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…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14" name="Picture 4" descr=""/>
          <p:cNvPicPr/>
          <p:nvPr/>
        </p:nvPicPr>
        <p:blipFill>
          <a:blip r:embed="rId1"/>
          <a:stretch/>
        </p:blipFill>
        <p:spPr>
          <a:xfrm>
            <a:off x="7543800" y="1272600"/>
            <a:ext cx="4174920" cy="4174920"/>
          </a:xfrm>
          <a:prstGeom prst="rect">
            <a:avLst/>
          </a:prstGeom>
          <a:ln w="0">
            <a:noFill/>
          </a:ln>
        </p:spPr>
      </p:pic>
      <p:sp>
        <p:nvSpPr>
          <p:cNvPr id="315" name="TextBox 4"/>
          <p:cNvSpPr/>
          <p:nvPr/>
        </p:nvSpPr>
        <p:spPr>
          <a:xfrm rot="17559600">
            <a:off x="8646840" y="3693240"/>
            <a:ext cx="3502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VistaSansBook"/>
                <a:ea typeface="DejaVu Sans"/>
              </a:rPr>
              <a:t>flaticon, CC BY-SA 4.0, via Wikimedia Commons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Arne Rümmler | Abteilung 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78440" y="289080"/>
            <a:ext cx="1122840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rgbClr val="000000"/>
                </a:solidFill>
                <a:latin typeface="VistaSansBold"/>
                <a:ea typeface="DejaVu Sans"/>
              </a:rPr>
              <a:t>Motivation: Karten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dt" idx="38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DD938FA-22AE-41CC-BB11-AA003DA03929}" type="datetime3"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19. Juni 2026</a:t>
            </a:fld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 | Seite </a:t>
            </a:r>
            <a:fld id="{BD8C513B-3421-45DA-AE52-E0691127FABA}" type="slidenum"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&lt;number&gt;</a:t>
            </a:fld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478440" y="677520"/>
            <a:ext cx="1123056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rgbClr val="000000"/>
                </a:solidFill>
                <a:latin typeface="VistaSansBook"/>
                <a:ea typeface="DejaVu Sans"/>
              </a:rPr>
              <a:t>Eine Karte sagt mehr als tausend Worte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478440" y="1956600"/>
            <a:ext cx="11230560" cy="446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Geokodierung beschreibt die Zuordnung von Koordinaten zu Ortsnamen.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20" name="Picture 2" descr=""/>
          <p:cNvPicPr/>
          <p:nvPr/>
        </p:nvPicPr>
        <p:blipFill>
          <a:blip r:embed="rId1"/>
          <a:stretch/>
        </p:blipFill>
        <p:spPr>
          <a:xfrm>
            <a:off x="0" y="1092960"/>
            <a:ext cx="12190680" cy="5811840"/>
          </a:xfrm>
          <a:prstGeom prst="rect">
            <a:avLst/>
          </a:prstGeom>
          <a:ln w="0">
            <a:noFill/>
          </a:ln>
        </p:spPr>
      </p:pic>
      <p:pic>
        <p:nvPicPr>
          <p:cNvPr id="321" name="Picture 19" descr=""/>
          <p:cNvPicPr/>
          <p:nvPr/>
        </p:nvPicPr>
        <p:blipFill>
          <a:blip r:embed="rId2"/>
          <a:stretch/>
        </p:blipFill>
        <p:spPr>
          <a:xfrm>
            <a:off x="9192240" y="-27360"/>
            <a:ext cx="3049920" cy="16610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Arne Rümmler | Abteilung 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Picture 14" descr=""/>
          <p:cNvPicPr/>
          <p:nvPr/>
        </p:nvPicPr>
        <p:blipFill>
          <a:blip r:embed="rId1"/>
          <a:stretch/>
        </p:blipFill>
        <p:spPr>
          <a:xfrm>
            <a:off x="2073960" y="-68760"/>
            <a:ext cx="12118680" cy="59479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323" name="PlaceHolder 1"/>
          <p:cNvSpPr>
            <a:spLocks noGrp="1"/>
          </p:cNvSpPr>
          <p:nvPr>
            <p:ph type="dt" idx="39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F0215A3-F016-4731-89AF-29BE1277BFC0}" type="datetime3"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19. Juni 2026</a:t>
            </a:fld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 | Seite </a:t>
            </a:r>
            <a:fld id="{717699D6-7C90-45B5-B61D-7A10F9B2B08A}" type="slidenum"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&lt;number&gt;</a:t>
            </a:fld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title"/>
          </p:nvPr>
        </p:nvSpPr>
        <p:spPr>
          <a:xfrm>
            <a:off x="478440" y="289080"/>
            <a:ext cx="5040000" cy="430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rgbClr val="000000"/>
                </a:solidFill>
                <a:latin typeface="VistaSansBold"/>
                <a:ea typeface="DejaVu Sans"/>
              </a:rPr>
              <a:t>Motivation: Räumliche Analyse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/>
          </p:nvPr>
        </p:nvSpPr>
        <p:spPr>
          <a:xfrm>
            <a:off x="478440" y="677520"/>
            <a:ext cx="5040000" cy="430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rgbClr val="000000"/>
                </a:solidFill>
                <a:latin typeface="VistaSansBook"/>
                <a:ea typeface="DejaVu Sans"/>
              </a:rPr>
              <a:t>Cholera in London, 1854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/>
          </p:nvPr>
        </p:nvSpPr>
        <p:spPr>
          <a:xfrm>
            <a:off x="478800" y="1508760"/>
            <a:ext cx="3863520" cy="3502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 u="sng">
                <a:solidFill>
                  <a:srgbClr val="e10019"/>
                </a:solidFill>
                <a:uFillTx/>
                <a:latin typeface="VistaSansBook"/>
                <a:ea typeface="DejaVu Sans"/>
                <a:hlinkClick r:id="rId2"/>
              </a:rPr>
              <a:t>1854 schwerer Cholera Ausbruch in Soho, London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Forderte mehr als 500 Tote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Untersucht durch Arzt Dr. Jon Snow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Todesfälle durch Striche an jeweiligen Adressen der gestorbenen Person gekennzeichnet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Gilt als erste räumliche Analyse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7" name="TextBox 15"/>
          <p:cNvSpPr/>
          <p:nvPr/>
        </p:nvSpPr>
        <p:spPr>
          <a:xfrm>
            <a:off x="2073960" y="5915880"/>
            <a:ext cx="96476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VistaSansBook"/>
                <a:ea typeface="DejaVu Sans"/>
              </a:rPr>
              <a:t>John Snow - Map of the book </a:t>
            </a:r>
            <a:r>
              <a:rPr b="1" lang="en-US" sz="1050" spc="-1" strike="noStrike">
                <a:solidFill>
                  <a:srgbClr val="000000"/>
                </a:solidFill>
                <a:latin typeface="VistaSansBook"/>
                <a:ea typeface="DejaVu Sans"/>
              </a:rPr>
              <a:t>"On the Mode of Communication of Cholera"</a:t>
            </a:r>
            <a:r>
              <a:rPr b="0" lang="en-US" sz="1050" spc="-1" strike="noStrike">
                <a:solidFill>
                  <a:srgbClr val="000000"/>
                </a:solidFill>
                <a:latin typeface="VistaSansBook"/>
                <a:ea typeface="DejaVu Sans"/>
              </a:rPr>
              <a:t> by John Snow, originally published in 1854 by C.F. Cheffins, Lith, Southhampton Buildings, London, England. 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Arne Rümmler | Abteilung 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78440" y="289080"/>
            <a:ext cx="1122840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rgbClr val="000000"/>
                </a:solidFill>
                <a:latin typeface="VistaSansBold"/>
                <a:ea typeface="DejaVu Sans"/>
              </a:rPr>
              <a:t>Motivation: Räumliche Analyse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dt" idx="40"/>
          </p:nvPr>
        </p:nvSpPr>
        <p:spPr>
          <a:xfrm>
            <a:off x="7363080" y="6390000"/>
            <a:ext cx="2590560" cy="10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1E5E88F-3A31-4F6A-AFED-F0F124812884}" type="datetime3"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19. Juni 2026</a:t>
            </a:fld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 | Seite </a:t>
            </a:r>
            <a:fld id="{E419C0A3-0D0B-4EF0-BA0A-CF600D16E118}" type="slidenum"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&lt;number&gt;</a:t>
            </a:fld>
            <a:r>
              <a:rPr b="0" lang="de-DE" sz="900" spc="-1" strike="noStrike">
                <a:solidFill>
                  <a:srgbClr val="000000"/>
                </a:solidFill>
                <a:latin typeface="VistaSansBook"/>
                <a:ea typeface="DejaVu Sans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478440" y="677520"/>
            <a:ext cx="1123056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rgbClr val="000000"/>
                </a:solidFill>
                <a:latin typeface="VistaSansBook"/>
                <a:ea typeface="DejaVu Sans"/>
              </a:rPr>
              <a:t>Cholera in London, 1854</a:t>
            </a:r>
            <a:endParaRPr b="0" lang="en-US" sz="2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478440" y="1386000"/>
            <a:ext cx="4896000" cy="36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Analyse zeigt, dass sich die Fälle um die Wasserpumpe in der </a:t>
            </a:r>
            <a:r>
              <a:rPr b="0" i="1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Broad Street </a:t>
            </a: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häufen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Verunreinigtes Wasser in diesem Brunnen 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Pumparm abgeschraubt -&gt; Fallzahlen sanken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1100"/>
              </a:spcAft>
              <a:buClr>
                <a:srgbClr val="000000"/>
              </a:buClr>
              <a:buFont typeface="Arial"/>
              <a:buChar char="-"/>
            </a:pP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Indikator gegen vorherrschende </a:t>
            </a:r>
            <a:r>
              <a:rPr b="0" i="1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Miasma Theorie</a:t>
            </a:r>
            <a:r>
              <a:rPr b="0" lang="de-DE" sz="1800" spc="-1" strike="noStrike">
                <a:solidFill>
                  <a:srgbClr val="000000"/>
                </a:solidFill>
                <a:latin typeface="VistaSansBook"/>
                <a:ea typeface="DejaVu Sans"/>
              </a:rPr>
              <a:t> (Verbreitung von Krankheiten durch schlechte Luft)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Aft>
                <a:spcPts val="1100"/>
              </a:spcAft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32" name="Picture 4" descr=""/>
          <p:cNvPicPr/>
          <p:nvPr/>
        </p:nvPicPr>
        <p:blipFill>
          <a:blip r:embed="rId1"/>
          <a:stretch/>
        </p:blipFill>
        <p:spPr>
          <a:xfrm>
            <a:off x="5519880" y="230760"/>
            <a:ext cx="6186960" cy="56163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333" name="TextBox 5"/>
          <p:cNvSpPr/>
          <p:nvPr/>
        </p:nvSpPr>
        <p:spPr>
          <a:xfrm>
            <a:off x="5519880" y="5906520"/>
            <a:ext cx="618696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050" spc="-1" strike="noStrike">
                <a:solidFill>
                  <a:srgbClr val="000000"/>
                </a:solidFill>
                <a:latin typeface="VistaSansBook"/>
                <a:ea typeface="DejaVu Sans"/>
              </a:rPr>
              <a:t>Jon Snow’s Cholera Map, overlaid by a heat map indicating the cholera death density </a:t>
            </a:r>
            <a:r>
              <a:rPr b="0" lang="en-US" sz="1050" spc="-1" strike="noStrike">
                <a:solidFill>
                  <a:srgbClr val="000000"/>
                </a:solidFill>
                <a:latin typeface="VistaSansBook"/>
                <a:ea typeface="DejaVu Sans"/>
              </a:rPr>
              <a:t>by Narushige Shiode, Shino Shiode, Elodie Rod-Thatcher, Sanjay Rana &amp; Peter Vinten-Johansen, CC BY 4.0.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Arne Rümmler | Abteilung 4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10019"/>
      </a:accent1>
      <a:accent2>
        <a:srgbClr val="e10019"/>
      </a:accent2>
      <a:accent3>
        <a:srgbClr val="e10019"/>
      </a:accent3>
      <a:accent4>
        <a:srgbClr val="e10019"/>
      </a:accent4>
      <a:accent5>
        <a:srgbClr val="e10019"/>
      </a:accent5>
      <a:accent6>
        <a:srgbClr val="e10019"/>
      </a:accent6>
      <a:hlink>
        <a:srgbClr val="e10019"/>
      </a:hlink>
      <a:folHlink>
        <a:srgbClr val="e1001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Powerpoint-Vorlage-16_9</Template>
  <TotalTime>538</TotalTime>
  <Application>LibreOffice/24.2.7.2$Linux_X86_64 LibreOffice_project/420$Build-2</Application>
  <AppVersion>15.0000</AppVersion>
  <Words>283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2023-05-10T13:30:24Z</dcterms:created>
  <dc:creator>Arne Rümmler</dc:creator>
  <dc:description/>
  <dc:language>en-US</dc:language>
  <cp:lastModifiedBy>Arne Rümmler</cp:lastModifiedBy>
  <dcterms:modified xsi:type="dcterms:W3CDTF">2024-06-06T11:30:02Z</dcterms:modified>
  <cp:revision>14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